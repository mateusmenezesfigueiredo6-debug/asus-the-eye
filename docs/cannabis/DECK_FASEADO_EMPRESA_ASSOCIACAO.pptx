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3248" y="9144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60604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spc="1000" kern="0" dirty="0">
                <a:solidFill>
                  <a:srgbClr val="1E5C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GOTA VERDE</a:t>
            </a:r>
            <a:endParaRPr lang="en-US" sz="5200" dirty="0"/>
          </a:p>
        </p:txBody>
      </p:sp>
      <p:sp>
        <p:nvSpPr>
          <p:cNvPr id="4" name="Text 1"/>
          <p:cNvSpPr/>
          <p:nvPr/>
        </p:nvSpPr>
        <p:spPr>
          <a:xfrm>
            <a:off x="0" y="361188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1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Plano faseado: empresa + associacao de pacientes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0" y="46634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8A6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DE AGOSTO DE 2026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0" y="60350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interno. Valores em faixa tipica; numeros ilustrativos sao marcados como tais.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A6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1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Cannabis medicinal com prova,
</a:t>
            </a:r>
            <a:pPr indent="0" marL="0">
              <a:buNone/>
            </a:pPr>
            <a:r>
              <a:rPr lang="en-US" sz="4400" i="1" dirty="0">
                <a:solidFill>
                  <a:srgbClr val="1E5C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nao com promessa.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4023360"/>
            <a:ext cx="9692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auditavel de ponta a ponta: laudo de terceiros por lote, vinculado ao rotulo, e trilha de eventos imutavel (hash encadeado) que nem os fundadores conseguem reescrever. No mercado de saude em que a desconfianca e a regra, a prova e o produto.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D9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GOTA VERDE — PLANO FASEADO EMPRESA + ASSOCIACAO. FAIXAS TIPICAS E DADOS ILUSTRATIVOS ONDE INDICADO.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F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A6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E5C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Duas pessoas juridicas, papeis que nao se misturam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94960" cy="33832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9525">
            <a:solidFill>
              <a:srgbClr val="D9D4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40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E5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(COMERCIAL)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Marca, tecnologia e servicos digitais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Parcerias com prescritores e fornecedores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 e rastreabilidade como servico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 toca processo ANVISA de paciente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2011680"/>
            <a:ext cx="5212080" cy="33832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9525">
            <a:solidFill>
              <a:srgbClr val="D9D4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22402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A6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ASSOCIACAO (SEM FINS LUCRATIVOS)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83680" y="2651760"/>
            <a:ext cx="4663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 o paciente na rota RDC 660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Rateio de custos entre associados, sem lucro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Cultivo por via judicial no futuro (fase 3)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Prestacao de contas aos associados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557784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4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566928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vermelha comum: nenhuma das duas estoca, vende ou intermedia pagamento de produto (art. 273 do Codigo Penal). A compra e sempre do paciente ao fornecedor autorizado.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64465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D9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GOTA VERDE — PLANO FASEADO EMPRESA + ASSOCIACAO. FAIXAS TIPICAS E DADOS ILUSTRATIVOS ONDE INDICADO.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F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A6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LEGAL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E5C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RDC 660: o caminho legal em 5 passos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066544" cy="3108960"/>
          </a:xfrm>
          <a:prstGeom prst="roundRect">
            <a:avLst>
              <a:gd name="adj" fmla="val 2655"/>
            </a:avLst>
          </a:prstGeom>
          <a:solidFill>
            <a:srgbClr val="FFFFFF"/>
          </a:solidFill>
          <a:ln w="9525">
            <a:solidFill>
              <a:srgbClr val="D9D4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5146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8A6F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68680" y="31546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5C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Consulta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370332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Prescricao por medico habilitado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889504" y="2286000"/>
            <a:ext cx="2066544" cy="3108960"/>
          </a:xfrm>
          <a:prstGeom prst="roundRect">
            <a:avLst>
              <a:gd name="adj" fmla="val 2655"/>
            </a:avLst>
          </a:prstGeom>
          <a:solidFill>
            <a:srgbClr val="FFFFFF"/>
          </a:solidFill>
          <a:ln w="9525">
            <a:solidFill>
              <a:srgbClr val="D9D4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18104" y="25146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8A6F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18104" y="31546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5C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Autorizacao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118104" y="370332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Gov.br; automatica em minutos nos casos limpos; vale 2 anos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138928" y="2286000"/>
            <a:ext cx="2066544" cy="3108960"/>
          </a:xfrm>
          <a:prstGeom prst="roundRect">
            <a:avLst>
              <a:gd name="adj" fmla="val 2655"/>
            </a:avLst>
          </a:prstGeom>
          <a:solidFill>
            <a:srgbClr val="FFFFFF"/>
          </a:solidFill>
          <a:ln w="9525">
            <a:solidFill>
              <a:srgbClr val="D9D4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67528" y="25146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8A6F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367528" y="31546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5C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Compra direta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67528" y="370332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 compra do fornecedor no exterior; ninguem intermedia o pagamento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88352" y="2286000"/>
            <a:ext cx="2066544" cy="3108960"/>
          </a:xfrm>
          <a:prstGeom prst="roundRect">
            <a:avLst>
              <a:gd name="adj" fmla="val 2655"/>
            </a:avLst>
          </a:prstGeom>
          <a:solidFill>
            <a:srgbClr val="FFFFFF"/>
          </a:solidFill>
          <a:ln w="9525">
            <a:solidFill>
              <a:srgbClr val="D9D4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16952" y="25146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8A6F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616952" y="31546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5C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Entrada no pais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616952" y="370332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Courier com liberacao ANVISA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637776" y="2286000"/>
            <a:ext cx="2066544" cy="3108960"/>
          </a:xfrm>
          <a:prstGeom prst="roundRect">
            <a:avLst>
              <a:gd name="adj" fmla="val 2655"/>
            </a:avLst>
          </a:prstGeom>
          <a:solidFill>
            <a:srgbClr val="FFFFFF"/>
          </a:solidFill>
          <a:ln w="9525">
            <a:solidFill>
              <a:srgbClr val="D9D4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66376" y="25146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8A6F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866376" y="31546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5C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Uso proprio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866376" y="370332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Somente para o paciente autorizado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0080" y="5669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RDC 660/2022, ANVISA. A associacao orienta e documenta; a compra e sempre do paciente.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0080" y="64465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D9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GOTA VERDE — PLANO FASEADO EMPRESA + ASSOCIACAO. FAIXAS TIPICAS E DADOS ILUSTRATIVOS ONDE INDICADO.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F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A6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REGULATORIO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E5C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RDCs 1.011 a 1.015: o jogo mudou em agosto de 2026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9D4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35915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5C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RDCs 1.011-1.015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23360" y="2359152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Vigentes desde 04/08/2026 — novo marco da cannabis medicinal no pais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3429000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9D4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59359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5C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RDC 1.013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023360" y="3593592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caminho para cultivo empresarial controlado no Brasil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4663440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9D4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828032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5C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RDC 1.014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023360" y="4828032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regulatorio para associacoes de pacientes; exige 2 anos de operacao comprovada (corte); edital ainda pendente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6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Consequencia estrategica: quem tiver historico documentado de operacao assistencial chega elegivel ao sandbox. E exatamente o que as fases 1 e 2 constroem.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64465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D9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GOTA VERDE — PLANO FASEADO EMPRESA + ASSOCIACAO. FAIXAS TIPICAS E DADOS ILUSTRATIVOS ONDE INDICADO.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F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A6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 — CONCLUIDA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E5C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ja esta pronto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47472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9D4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3957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5C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Sites no ar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da empresa e site da associacao publicados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89120" y="2194560"/>
            <a:ext cx="347472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9D4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23957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5C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 Expo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63440" y="288036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Aplicativo construido, pronto para lojas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38160" y="2194560"/>
            <a:ext cx="347472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9D4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0" y="23957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5C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Plano interativo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0" y="288036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faseado navegavel para socios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4023360"/>
            <a:ext cx="347472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9D4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2245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5C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Estatuto e kit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470916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Estatuto da associacao e kit de fundacao prontos para assinar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89120" y="4023360"/>
            <a:ext cx="347472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9D4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42245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5C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Guias legais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63440" y="470916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Roteiros de HC preventivo e de despachantes RDC 660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38160" y="4023360"/>
            <a:ext cx="347472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9D4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0" y="42245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5C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 tecnologica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412480" y="470916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Cadeia de evidencia auditavel ja em producao (THE EYE)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64465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D9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GOTA VERDE — PLANO FASEADO EMPRESA + ASSOCIACAO. FAIXAS TIPICAS E DADOS ILUSTRATIVOS ONDE INDICADO.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F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A6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— 3 A 6 SEMANAS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E5C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Fundar a associacao; proteger a marca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6309360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D9D4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33172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A6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ASSOCIACAO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5760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Assembleia de fundacao com socios fundadores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do estatuto em cartorio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CNPJ na Receita Federal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bancaria da associacao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total: faixa tipica R$ 2 a 5 mil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223760" y="2103120"/>
            <a:ext cx="4297680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D9D4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0" y="2331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E5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EMPRESA, EM PARALELO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0" y="2743200"/>
            <a:ext cx="3749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Deposito da marca no INPI em 4 classes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e consolidacao de dominios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contato com processos de pacientes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64465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D9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GOTA VERDE — PLANO FASEADO EMPRESA + ASSOCIACAO. FAIXAS TIPICAS E DADOS ILUSTRATIVOS ONDE INDICADO.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F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A6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— 6 A 12 MESES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E5C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Operacao assistencial: construir o historico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66751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6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Associacao: </a:t>
            </a:r>
            <a:pPr indent="0" marL="0">
              <a:buNone/>
            </a:pPr>
            <a:r>
              <a:rPr lang="en-US" sz="14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 pacientes na rota RDC 660 com wizard digital + despachante humano; rateio transparente; prestacao de contas periodica.
</a:t>
            </a:r>
            <a:pPr indent="0" marL="0">
              <a:buNone/>
            </a:pPr>
            <a:r>
              <a:rPr lang="en-US" sz="1400" b="1" dirty="0">
                <a:solidFill>
                  <a:srgbClr val="1E5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Empresa: </a:t>
            </a:r>
            <a:pPr indent="0" marL="0">
              <a:buNone/>
            </a:pPr>
            <a:r>
              <a:rPr lang="en-US" sz="14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 o acompanhamento do paciente e a renovacao de autorizacoes e receitas, com trilha auditavel de cada evento.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680960" y="2194560"/>
            <a:ext cx="384048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9525">
            <a:solidFill>
              <a:srgbClr val="D9D4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2423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6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DA FASE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955280" y="27889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1E5C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20+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955280" y="365760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 documentados, com historico de operacao e prestacao de contas — a base de elegibilidade para o sandbox da RDC 1.014.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64465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D9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GOTA VERDE — PLANO FASEADO EMPRESA + ASSOCIACAO. FAIXAS TIPICAS E DADOS ILUSTRATIVOS ONDE INDICADO.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F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A6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— APOS A FASE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E5C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Cultivo: duas rotas em paralelo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394960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D9D4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3317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E5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JUDICIAL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4846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 preventivo coletivo para cultivo associativo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Liminar: semanas a meses (faixa tipica)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Sentenca: 6 a 18 meses (faixa tipica)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juridico: faixa tipica R$ 15 a 60 mil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09360" y="2103120"/>
            <a:ext cx="5212080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D9D4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23317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A6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REGULATORIA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83680" y="2743200"/>
            <a:ext cx="4663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 o edital do sandbox da RDC 1.014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Historico da fase 2 e o criterio de corte (2 anos)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fornece a rastreabilidade que sustenta o dossie (laudos, eventos, prestacao de contas)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64465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D9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GOTA VERDE — PLANO FASEADO EMPRESA + ASSOCIACAO. FAIXAS TIPICAS E DADOS ILUSTRATIVOS ONDE INDICADO.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F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A6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E PLAYERS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E5C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mercado ja existe; o diferencial e a prova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53492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4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35915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5C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Cannect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78892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consultas; declara 100 mil+ pacientes atendidos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63640" y="2194560"/>
            <a:ext cx="53492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4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235915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5C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Blis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7960" y="278892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 cannabis medicinal; 500 mil+ downloads declarados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749040"/>
            <a:ext cx="53492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4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91363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5C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CannaCare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434340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Operacao clinica; parceria potencial, nao concorrente direto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3749040"/>
            <a:ext cx="53492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4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391363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5C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Abrace / Apepi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37960" y="434340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Associacoes de referencia, com cultivo judicial autorizado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55321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6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Numeros declarados pelos proprios players, nao verificados por nos. Nosso diferencial: prova auditavel da cadeia inteira, do laudo por lote ao acompanhamento.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" y="64465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D9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GOTA VERDE — PLANO FASEADO EMPRESA + ASSOCIACAO. FAIXAS TIPICAS E DADOS ILUSTRATIVOS ONDE INDICADO.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F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A6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RECEITA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E5C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cobra o que — e quem nao lucra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39496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9525">
            <a:solidFill>
              <a:srgbClr val="D9D4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3317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E5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de acompanhamento do paciente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Servicos a fornecedores e prescritores (rastreabilidade, auditoria)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09360" y="2103120"/>
            <a:ext cx="521208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9525">
            <a:solidFill>
              <a:srgbClr val="D9D4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23317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A6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ASSOCIACAO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583680" y="274320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Anuidade dos associados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Rateio de custos operacionais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lucro, por definicao legal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5440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projecao de faturamento neste deck: ainda nao ha base medida para calibrar projecoes (regra de honestidade estatistica). Projecoes virao com metodo e premissas abertas.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64465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D9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GOTA VERDE — PLANO FASEADO EMPRESA + ASSOCIACAO. FAIXAS TIPICAS E DADOS ILUSTRATIVOS ONDE INDICADO.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F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A6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 INICIAL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E5C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Faixas tipicas, nao orcamento fechado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108813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9D4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21992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Fundacao da associacao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0" y="222199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E5C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R$ 2 a 5 mil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108813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9D4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999232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Marca no INPI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0" y="299923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E5C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R$ 1,5 a 3 mil por classe (4 classes)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703320"/>
            <a:ext cx="108813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9D4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776472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Assessoria juridica (fases 1-2)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0" y="377647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E5C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R$ 10 a 30 mil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480560"/>
            <a:ext cx="108813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9D4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553712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HC preventivo coletivo (fase 3)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0" y="455371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E5C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R$ 15 a 60 mil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5257800"/>
            <a:ext cx="108813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9D4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330952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Infraestrutura digital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15200" y="533095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E5C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R$ 0,5 a 2,5 mil por ano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valores sao faixas tipicas de mercado, nao cotacoes. Orcamentos reais serao anexados antes de qualquer decisao.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64465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D9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GOTA VERDE — PLANO FASEADO EMPRESA + ASSOCIACAO. FAIXAS TIPICAS E DADOS ILUSTRATIVOS ONDE INDICADO.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F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A6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 E MITIGACOES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E5C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pode dar errado — e o que fazemos a respeito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0574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5C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Regulatorio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108960" y="20574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Edital do sandbox atrasa ou muda de criterio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223760" y="205740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judicial em paralelo; operacao RDC 660 nao depende do sandbox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289864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5C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Confusao entre entidades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08960" y="2898648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e associacao vistas como uma coisa so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223760" y="2898648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Contabilidades, contas e governancas separadas; contratos formais entre as duas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3739896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5C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08960" y="3739896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indeferida ou oposicao de terceiros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223760" y="3739896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previa, 4 classes, acompanhamento por especialista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4581144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5C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Concorrencia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108960" y="4581144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grandes copiam o discurso de prova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223760" y="4581144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trilha imutavel e verificavel por terceiros; discurso nao replica infraestrutura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542239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5C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LGPD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108960" y="5422392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saude sao dado sensivel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223760" y="5422392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Consentimento explicito, minimizacao, sem perfil de individuo fora da finalidade assistencial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" y="64465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D9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GOTA VERDE — PLANO FASEADO EMPRESA + ASSOCIACAO. FAIXAS TIPICAS E DADOS ILUSTRATIVOS ONDE INDICADO.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6F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3248" y="73152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28600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1E5C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pedido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1828800" y="32004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1A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Socios fundadores para a associacao e capital semente para as fases 1 e 2 — fundacao, marca, operacao assistencial e o historico que abre a fase 3.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40080" y="4480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6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Contato: ____________________    |    Proximo passo: assembleia de fundacao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371600" y="576072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material nao constitui oferta publica de valores mobiliarios. Valores em faixa tipica; qualquer aporte sera formalizado por instrumento juridico proprio, com due diligence.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2026-08-25T17:13:28Z</dcterms:created>
  <dcterms:modified xsi:type="dcterms:W3CDTF">2026-08-25T17:13:28Z</dcterms:modified>
</cp:coreProperties>
</file>