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105156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74320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spc="1000" kern="0" dirty="0">
                <a:solidFill>
                  <a:srgbClr val="E6C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CINALA VERDE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0" y="374904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Cannabis medicinal com prova, nao com promessa.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0" y="48463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APRESENTACAO PARA INVESTIDORES — AGOSTO 2026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interno e confidencial. Produtos, precos e numeros sao ilustrativos ate a operacao existir.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paciente brasileiro paga caro por um mercado sem confianca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474720" cy="3108960"/>
          </a:xfrm>
          <a:prstGeom prst="roundRect">
            <a:avLst>
              <a:gd name="adj" fmla="val 1765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560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9A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Acesso fragmentado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379476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Importacao, farmacia e associacoes convivem com precos que variam 5x para o mesmo miligrama.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474720" cy="3108960"/>
          </a:xfrm>
          <a:prstGeom prst="roundRect">
            <a:avLst>
              <a:gd name="adj" fmla="val 1765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2560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9A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663440" y="3200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Confianca escassa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63440" y="379476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Laudos inacessiveis, rotulos sem verificacao e promessas terapeuticas sem evidencia.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2286000"/>
            <a:ext cx="3474720" cy="3108960"/>
          </a:xfrm>
          <a:prstGeom prst="roundRect">
            <a:avLst>
              <a:gd name="adj" fmla="val 1765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2560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9A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412480" y="3200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Medico desassistido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412480" y="379476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Prescritores sem estrutura de acompanhamento e expostos a propostas antieticas de comissao.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CINALA VERDE — MATERIAL CONFIDENCIAL DE APRESENTACAO. DADOS ILUSTRATIVOS.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mercado legal que ja existe e so cresce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6400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Fatos publicos verificaveis (fontes no rodape):
</a:t>
            </a:r>
            <a:pPr indent="0" marL="0">
              <a:buNone/>
            </a:pPr>
            <a:r>
              <a:rPr lang="en-US" sz="125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2015 a ANVISA autoriza importacao de derivados de cannabis por pessoa fisica; a RDC 660/2022 simplificou o rito e a autorizacao vale 2 anos.
</a:t>
            </a:r>
            <a:pPr indent="0" marL="0">
              <a:buNone/>
            </a:pPr>
            <a:r>
              <a:rPr lang="en-US" sz="125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nacionais autorizados (RDC 327/2019) ja sao vendidos em farmacia com receita.
</a:t>
            </a:r>
            <a:pPr indent="0" marL="0">
              <a:buNone/>
            </a:pPr>
            <a:r>
              <a:rPr lang="en-US" sz="125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Associacoes de pacientes somam dezenas de milhares de associados (ABRACE declara 35 mil+).
</a:t>
            </a:r>
            <a:pPr indent="0" marL="0">
              <a:buNone/>
            </a:pPr>
            <a:r>
              <a:rPr lang="en-US" sz="125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privadas de consulta reportam centenas de prescritores ativos.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498080" y="2103120"/>
            <a:ext cx="4023360" cy="3840480"/>
          </a:xfrm>
          <a:prstGeom prst="roundRect">
            <a:avLst>
              <a:gd name="adj" fmla="val 1429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23774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E6C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anos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863840" y="321868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VALIDADE DA AUTORIZACAO DE IMPORTACAO (RDC 660)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863840" y="39776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E6C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mil+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863840" y="481888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ASSOCIADOS DECLARADOS SO NA MAIOR ASSOCIACAO (ABRACE)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anvisa.gov.br (RDC 660/2022, RDC 327/2019); abrace.com.br; levantamento proprio docs/cannabis (24/08/2026). Nao publicamos projecoes de TAM sem metodo.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CINALA VERDE — MATERIAL CONFIDENCIAL DE APRESENTACAO. DADOS ILUSTRATIVOS.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Produto se copia.
</a:t>
            </a:r>
            <a:pPr indent="0" marL="0">
              <a:buNone/>
            </a:pPr>
            <a:r>
              <a:rPr lang="en-US" sz="4800" i="1" dirty="0">
                <a:solidFill>
                  <a:srgbClr val="E6C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Confianca auditavel, nao.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420624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Cinala Verde nasce dentro de uma plataforma de evidencia auditavel (THE EYE): cada evento relevante — laudo, prescricao, dispensacao, efeito adverso — vira registro encadeado por hash que nem os fundadores conseguem reescrever. No unico mercado de saude onde a desconfianca e a regra, isso e o produto.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CINALA VERDE — MATERIAL CONFIDENCIAL DE APRESENTACAO. DADOS ILUSTRATIVOS.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— PLATAFORMA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travas que o mercado nao tem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502920" cy="502920"/>
          </a:xfrm>
          <a:prstGeom prst="ellipse">
            <a:avLst/>
          </a:prstGeom>
          <a:solidFill>
            <a:srgbClr val="1F4D33"/>
          </a:solidFill>
          <a:ln w="12700">
            <a:solidFill>
              <a:srgbClr val="C9A4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C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2240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Laudo por lote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269748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Cromatografia de terceiros vinculada ao QR do rotulo; o paciente confere antes de usar.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502920" cy="502920"/>
          </a:xfrm>
          <a:prstGeom prst="ellipse">
            <a:avLst/>
          </a:prstGeom>
          <a:solidFill>
            <a:srgbClr val="1F4D33"/>
          </a:solidFill>
          <a:ln w="12700">
            <a:solidFill>
              <a:srgbClr val="C9A4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C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35661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Dispensacao condicionada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402336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prescricao valida e atualizada o sistema nao libera; nao existe excecao manual.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983480"/>
            <a:ext cx="502920" cy="502920"/>
          </a:xfrm>
          <a:prstGeom prst="ellipse">
            <a:avLst/>
          </a:prstGeom>
          <a:solidFill>
            <a:srgbClr val="1F4D33"/>
          </a:solidFill>
          <a:ln w="12700">
            <a:solidFill>
              <a:srgbClr val="C9A4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C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892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Farmacovigilancia ativa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534924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adverso vira registro permanente e realimenta prescritores e P&amp;D.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63840" y="2240280"/>
            <a:ext cx="3657600" cy="3749040"/>
          </a:xfrm>
          <a:prstGeom prst="roundRect">
            <a:avLst>
              <a:gd name="adj" fmla="val 1500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2468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138160" y="288036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ED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-&gt; Extracao -&gt; Laudo -&gt; Rotulo QR -&gt; Prescricao -&gt; Dispensacao -&gt; Acompanhamento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CINALA VERDE — MATERIAL CONFIDENCIAL DE APRESENTACAO. DADOS ILUSTRATIVOS.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— LINHA DEMONSTRATIVA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linha Cinala (ficticia, para apresentacao)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606040" cy="3657600"/>
          </a:xfrm>
          <a:prstGeom prst="roundRect">
            <a:avLst>
              <a:gd name="adj" fmla="val 2105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2331720"/>
            <a:ext cx="1463040" cy="1737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4206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Reserva 3000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4709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Oleo full spectrum - R$ 289*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68680" y="5212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DEMONSTRATIVO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474720" y="2148840"/>
            <a:ext cx="2606040" cy="3657600"/>
          </a:xfrm>
          <a:prstGeom prst="roundRect">
            <a:avLst>
              <a:gd name="adj" fmla="val 2105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792" y="2331720"/>
            <a:ext cx="1463040" cy="1737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03320" y="4206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Puro Isolado 1500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703320" y="4709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THC 0,0% - R$ 199*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703320" y="5212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DEMONSTRATIVO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6309360" y="2148840"/>
            <a:ext cx="2606040" cy="3657600"/>
          </a:xfrm>
          <a:prstGeom prst="roundRect">
            <a:avLst>
              <a:gd name="adj" fmla="val 2105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2331720"/>
            <a:ext cx="1463040" cy="17373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37960" y="4206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Noite 1:1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537960" y="4709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CBD:THC 1:1 - R$ 349*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537960" y="5212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DEMONSTRATIVO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9144000" y="2148840"/>
            <a:ext cx="2606040" cy="3657600"/>
          </a:xfrm>
          <a:prstGeom prst="roundRect">
            <a:avLst>
              <a:gd name="adj" fmla="val 2105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072" y="2331720"/>
            <a:ext cx="1463040" cy="17373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372600" y="4206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Balsamo Recupera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9372600" y="4709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Topico 500 mg - R$ 129*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9372600" y="5212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DEMONSTRATIVO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Precos ilustrativos. Nomes e formulas inventados; nenhum item esta a venda. Linha completa (8 SKUs) no site de demonstracao.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64008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CINALA VERDE — MATERIAL CONFIDENCIAL DE APRESENTACAO. DADOS ILUSTRATIVOS.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Herdamos a infraestrutura, nao a construimos do zero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349240" cy="1645920"/>
          </a:xfrm>
          <a:prstGeom prst="roundRect">
            <a:avLst>
              <a:gd name="adj" fmla="val 3333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4871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C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Cadeia de evidencia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chain + arvores de Merkle ja em producao no THE EYE (Cloudflare D1/R2 + verificador publico).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2286000"/>
            <a:ext cx="5349240" cy="1645920"/>
          </a:xfrm>
          <a:prstGeom prst="roundRect">
            <a:avLst>
              <a:gd name="adj" fmla="val 3333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4871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C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Verificacao por terceiros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29260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auditor confere a integridade sem pedir permissao — o codigo do verificador e aberto (AGPL).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5349240" cy="1645920"/>
          </a:xfrm>
          <a:prstGeom prst="roundRect">
            <a:avLst>
              <a:gd name="adj" fmla="val 3333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159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C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 e app prontos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47548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gateado por codigo (Worker + PWA) e app Expo para App Store / Play ja construidos.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4114800"/>
            <a:ext cx="5349240" cy="1645920"/>
          </a:xfrm>
          <a:prstGeom prst="roundRect">
            <a:avLst>
              <a:gd name="adj" fmla="val 3333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43159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C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marginal baixo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37960" y="47548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infra do vertical roda sobre a plataforma existente; o investimento vai para operacao e P&amp;D.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CINALA VERDE — MATERIAL CONFIDENCIAL DE APRESENTACAO. DADOS ILUSTRATIVOS.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E DESENVOLVIMENTO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P&amp;D: a vantagem que nao se copia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A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371600" y="21214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 de mundo real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852160" y="217627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longitudinal de desfechos, com consentimento e LGPD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29077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A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371600" y="2926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Estabilidade e formulacao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852160" y="298094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Validade dita pelo dado, nao pelo padrao do mercado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371246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A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371600" y="37307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Farmacovigilancia computacional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852160" y="378561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Deteccao de sinal antes do relato consolidar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451713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A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371600" y="453542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Genetica e cultivo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852160" y="459028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quimiotipos — so com autorizacao judicial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53218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A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371600" y="534009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Economia do acesso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852160" y="53949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real por miligrama, publicado com metodo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6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Compromisso: resultado nulo ou contrario tambem e publicado. Todo dado de paciente passa antes por CEP/CONEP.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CINALA VERDE — MATERIAL CONFIDENCIAL DE APRESENTACAO. DADOS ILUSTRATIVOS.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 (ILUSTRATIVO)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motores de receita, um funil so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474720" cy="3017520"/>
          </a:xfrm>
          <a:prstGeom prst="roundRect">
            <a:avLst>
              <a:gd name="adj" fmla="val 1818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514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rate sobre consultas de telemedicina com prescritores parceiros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474720" cy="3017520"/>
          </a:xfrm>
          <a:prstGeom prst="roundRect">
            <a:avLst>
              <a:gd name="adj" fmla="val 1818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2514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63440" y="28803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Assinatura do paciente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63440" y="37490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Acompanhamento, renovacao de receita e farmacovigilancia como servico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2286000"/>
            <a:ext cx="3474720" cy="3017520"/>
          </a:xfrm>
          <a:prstGeom prst="roundRect">
            <a:avLst>
              <a:gd name="adj" fmla="val 1818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2514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412480" y="28803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Operacao associativa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12480" y="37490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Fornecimento sem lucro via associacao + servicos de auditoria para o setor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numeros de projecao neste deck: ainda nao ha operacao para calibra-los. Projecoes serao publicadas com metodo e premissas abertas.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CINALA VERDE — MATERIAL CONFIDENCIAL DE APRESENTACAO. DADOS ILUSTRATIVOS.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Primeiro o medico, depois o paciente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66751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Funil de prescritores ja desenhado: </a:t>
            </a:r>
            <a:pPr indent="0" marL="0">
              <a:buNone/>
            </a:pPr>
            <a:r>
              <a:rPr lang="en-US" sz="13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por CRM ativo e nao exclusividade, cadencia multicanal (email, WhatsApp Business API, SMS) com opt-out e LGPD, e tres modelos licitos de remuneracao — por consulta, hora clinica ou conselho cientifico.
</a:t>
            </a:r>
            <a:pPr indent="0" marL="0">
              <a:buNone/>
            </a:pPr>
            <a:r>
              <a:rPr lang="en-US" sz="1300" b="1" dirty="0">
                <a:solidFill>
                  <a:srgbClr val="E6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comissao por prescricao. </a:t>
            </a:r>
            <a:pPr indent="0" marL="0">
              <a:buNone/>
            </a:pPr>
            <a:r>
              <a:rPr lang="en-US" sz="13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vedado pelo Codigo de Etica Medica e e o erro que ja queimou concorrentes. Nossa recusa formal disso e argumento de recrutamento.
</a:t>
            </a:r>
            <a:pPr indent="0" marL="0">
              <a:buNone/>
            </a:pPr>
            <a:r>
              <a:rPr lang="en-US" sz="1300" b="1" dirty="0">
                <a:solidFill>
                  <a:srgbClr val="ED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chega pelo medico </a:t>
            </a:r>
            <a:pPr indent="0" marL="0">
              <a:buNone/>
            </a:pPr>
            <a:r>
              <a:rPr lang="en-US" sz="13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por conteudo educacional — nao por promessa de cura, que alem de antietica e ilegal em publicidade de saude.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0" y="2194560"/>
            <a:ext cx="3749040" cy="3657600"/>
          </a:xfrm>
          <a:prstGeom prst="roundRect">
            <a:avLst>
              <a:gd name="adj" fmla="val 1500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CADENCIA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0" y="2788920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D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1 -&gt; Email 2 (3d) -&gt; WhatsApp (4d) -&gt; SMS (5d) -&gt; Email final (7d)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D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imediata no opt-out. Templates prontos em docs/cannabis.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CINALA VERDE — MATERIAL CONFIDENCIAL DE APRESENTACAO. DADOS ILUSTRATIVOS.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Sabemos exatamente onde e a linha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394960" cy="3657600"/>
          </a:xfrm>
          <a:prstGeom prst="roundRect">
            <a:avLst>
              <a:gd name="adj" fmla="val 1500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423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8C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LEI JA PERMITE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Importacao por paciente (RDC 660/2022)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nacionais em farmacia (RDC 327/2019)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Telemedicina nacional (CFM 2.314/2022)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Associacoes com autorizacao judicial de cultivo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Conteudo educacional e plataforma de consultas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2194560"/>
            <a:ext cx="5212080" cy="3657600"/>
          </a:xfrm>
          <a:prstGeom prst="roundRect">
            <a:avLst>
              <a:gd name="adj" fmla="val 1500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4231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NAO FAZEMOS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0" y="283464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 sem prescricao ou fora da via legal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Comissao por prescricao (vedada pelo CEM)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Promessa terapeutica em publicidade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Cultivo sem autorizacao judicial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recreativo — fora do escopo, ponto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CINALA VERDE — MATERIAL CONFIDENCIAL DE APRESENTACAO. DADOS ILUSTRATIVOS.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fases, cada uma paga a seguinte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2514600"/>
            <a:ext cx="2651760" cy="0"/>
          </a:xfrm>
          <a:prstGeom prst="line">
            <a:avLst/>
          </a:prstGeom>
          <a:noFill/>
          <a:ln w="25400">
            <a:solidFill>
              <a:srgbClr val="C9A4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697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Apresentacao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gateado, deck, estatuto pronto para assinar, funil de medicos desenhado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66160" y="2514600"/>
            <a:ext cx="2651760" cy="0"/>
          </a:xfrm>
          <a:prstGeom prst="line">
            <a:avLst/>
          </a:prstGeom>
          <a:noFill/>
          <a:ln w="25400">
            <a:solidFill>
              <a:srgbClr val="1C2A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2697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0-6 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3063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Associacao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74720" y="365760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em cartorio, CNPJ, corpo clinico inicial, primeiras consultas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2514600"/>
            <a:ext cx="2651760" cy="0"/>
          </a:xfrm>
          <a:prstGeom prst="line">
            <a:avLst/>
          </a:prstGeom>
          <a:noFill/>
          <a:ln w="25400">
            <a:solidFill>
              <a:srgbClr val="1C2A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697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6-18 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09360" y="3063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Operacao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09360" y="365760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Dispensacao auditada via importacao; acao judicial de cultivo protocolada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235440" y="2514600"/>
            <a:ext cx="2651760" cy="0"/>
          </a:xfrm>
          <a:prstGeom prst="line">
            <a:avLst/>
          </a:prstGeom>
          <a:noFill/>
          <a:ln w="25400">
            <a:solidFill>
              <a:srgbClr val="1C2A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2697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M+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0" y="3063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P&amp;D em escala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44000" y="365760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mundo real publicando; cultivo associativo se autorizado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CINALA VERDE — MATERIAL CONFIDENCIAL DE APRESENTACAO. DADOS ILUSTRATIVOS.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cargos estao definidos; os nomes, em conversa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474720" cy="1645920"/>
          </a:xfrm>
          <a:prstGeom prst="roundRect">
            <a:avLst>
              <a:gd name="adj" fmla="val 3333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743200"/>
            <a:ext cx="731520" cy="731520"/>
          </a:xfrm>
          <a:prstGeom prst="ellipse">
            <a:avLst/>
          </a:prstGeom>
          <a:solidFill>
            <a:srgbClr val="1F4D33"/>
          </a:solidFill>
          <a:ln w="12700">
            <a:solidFill>
              <a:srgbClr val="C9A4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Presidente / CEO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0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474720" cy="1645920"/>
          </a:xfrm>
          <a:prstGeom prst="roundRect">
            <a:avLst>
              <a:gd name="adj" fmla="val 3333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2743200"/>
            <a:ext cx="731520" cy="731520"/>
          </a:xfrm>
          <a:prstGeom prst="ellipse">
            <a:avLst/>
          </a:prstGeom>
          <a:solidFill>
            <a:srgbClr val="1F4D33"/>
          </a:solidFill>
          <a:ln w="12700">
            <a:solidFill>
              <a:srgbClr val="C9A4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Diretor(a) Medico(a)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577840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2286000"/>
            <a:ext cx="3474720" cy="1645920"/>
          </a:xfrm>
          <a:prstGeom prst="roundRect">
            <a:avLst>
              <a:gd name="adj" fmla="val 3333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2743200"/>
            <a:ext cx="731520" cy="731520"/>
          </a:xfrm>
          <a:prstGeom prst="ellipse">
            <a:avLst/>
          </a:prstGeom>
          <a:solidFill>
            <a:srgbClr val="1F4D33"/>
          </a:solidFill>
          <a:ln w="12700">
            <a:solidFill>
              <a:srgbClr val="C9A4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0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Diretor(a) de Tecnologia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326880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3474720" cy="1645920"/>
          </a:xfrm>
          <a:prstGeom prst="roundRect">
            <a:avLst>
              <a:gd name="adj" fmla="val 3333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572000"/>
            <a:ext cx="731520" cy="731520"/>
          </a:xfrm>
          <a:prstGeom prst="ellipse">
            <a:avLst/>
          </a:prstGeom>
          <a:solidFill>
            <a:srgbClr val="1F4D33"/>
          </a:solidFill>
          <a:ln w="12700">
            <a:solidFill>
              <a:srgbClr val="C9A4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0" y="4434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Diretor(a) Juridico(a)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828800" y="5029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4114800"/>
            <a:ext cx="3474720" cy="1645920"/>
          </a:xfrm>
          <a:prstGeom prst="roundRect">
            <a:avLst>
              <a:gd name="adj" fmla="val 3333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4572000"/>
            <a:ext cx="731520" cy="731520"/>
          </a:xfrm>
          <a:prstGeom prst="ellipse">
            <a:avLst/>
          </a:prstGeom>
          <a:solidFill>
            <a:srgbClr val="1F4D33"/>
          </a:solidFill>
          <a:ln w="12700">
            <a:solidFill>
              <a:srgbClr val="C9A4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4434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Diretor(a) de P&amp;D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77840" y="5029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4114800"/>
            <a:ext cx="3474720" cy="1645920"/>
          </a:xfrm>
          <a:prstGeom prst="roundRect">
            <a:avLst>
              <a:gd name="adj" fmla="val 3333"/>
            </a:avLst>
          </a:prstGeom>
          <a:solidFill>
            <a:srgbClr val="0F1811"/>
          </a:solidFill>
          <a:ln w="9525">
            <a:solidFill>
              <a:srgbClr val="1C2A1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0" y="4572000"/>
            <a:ext cx="731520" cy="731520"/>
          </a:xfrm>
          <a:prstGeom prst="ellipse">
            <a:avLst/>
          </a:prstGeom>
          <a:solidFill>
            <a:srgbClr val="1F4D33"/>
          </a:solidFill>
          <a:ln w="12700">
            <a:solidFill>
              <a:srgbClr val="C9A4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0" y="4434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Diretor(a) Comercial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326880" y="5029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CINALA VERDE — MATERIAL CONFIDENCIAL DE APRESENTACAO. DADOS ILUSTRATIVOS.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82296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3774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6C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convite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2011680" y="329184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EDE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Buscamos socios que entendam que, neste mercado, integridade nao e discurso de ESG — e o unico fosso defensavel.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40080" y="4480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Captacao alvo: R$ ____________    |    Instrumento: ____________    |    Contato: ____________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371600" y="566928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material nao constitui oferta publica de valores mobiliarios. Produtos e numeros exibidos sao ilustrativos; nao ha operacao comercial nesta data. Qualquer investimento sera formalizado por instrumento juridico proprio, com due diligence.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2026-08-24T19:44:12Z</dcterms:created>
  <dcterms:modified xsi:type="dcterms:W3CDTF">2026-08-24T19:44:12Z</dcterms:modified>
</cp:coreProperties>
</file>